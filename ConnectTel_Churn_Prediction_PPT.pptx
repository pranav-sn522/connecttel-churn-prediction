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F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F3D"/>
                </a:solidFill>
                <a:latin typeface="Arial"/>
              </a:rPr>
              <a:t>Churn Rate by Segment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DSL</c:v>
                  </c:pt>
                  <c:pt idx="1">
                    <c:v>Fiber Optic</c:v>
                  </c:pt>
                  <c:pt idx="2">
                    <c:v>Month-to-Month</c:v>
                  </c:pt>
                  <c:pt idx="3">
                    <c:v>Two Year</c:v>
                  </c:pt>
                  <c:pt idx="4">
                    <c:v>No Partner</c:v>
                  </c:pt>
                  <c:pt idx="5">
                    <c:v>Has Partner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18.9</c:v>
                </c:pt>
                <c:pt idx="1">
                  <c:v>41.9</c:v>
                </c:pt>
                <c:pt idx="2">
                  <c:v>42.7</c:v>
                </c:pt>
                <c:pt idx="3">
                  <c:v>2.8</c:v>
                </c:pt>
                <c:pt idx="4">
                  <c:v>32.9</c:v>
                </c:pt>
                <c:pt idx="5">
                  <c:v>19.7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AUC-ROC | Recall | Precision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 (tuned)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0.841</c:v>
                </c:pt>
                <c:pt idx="1">
                  <c:v>0.8442</c:v>
                </c:pt>
                <c:pt idx="2">
                  <c:v>0.847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 (tuned)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0.7914</c:v>
                </c:pt>
                <c:pt idx="1">
                  <c:v>0.738</c:v>
                </c:pt>
                <c:pt idx="2">
                  <c:v>0.7968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 (tuned)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0.4992</c:v>
                </c:pt>
                <c:pt idx="1">
                  <c:v>0.5691</c:v>
                </c:pt>
                <c:pt idx="2">
                  <c:v>0.5129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Mean |SHAP| — Average Feature Impact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 Value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9F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9F2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9F2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Has Family Ties</c:v>
                  </c:pt>
                  <c:pt idx="1">
                    <c:v>Paperless Billing</c:v>
                  </c:pt>
                  <c:pt idx="2">
                    <c:v>Is New Customer</c:v>
                  </c:pt>
                  <c:pt idx="3">
                    <c:v>Service Count</c:v>
                  </c:pt>
                  <c:pt idx="4">
                    <c:v>Online Security</c:v>
                  </c:pt>
                  <c:pt idx="5">
                    <c:v>Monthly Charges</c:v>
                  </c:pt>
                  <c:pt idx="6">
                    <c:v>Internet: Fiber Optic</c:v>
                  </c:pt>
                  <c:pt idx="7">
                    <c:v>Tenure</c:v>
                  </c:pt>
                  <c:pt idx="8">
                    <c:v>Contract Risk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0.08</c:v>
                </c:pt>
                <c:pt idx="1">
                  <c:v>0.09</c:v>
                </c:pt>
                <c:pt idx="2">
                  <c:v>0.12</c:v>
                </c:pt>
                <c:pt idx="3">
                  <c:v>0.14</c:v>
                </c:pt>
                <c:pt idx="4">
                  <c:v>0.15</c:v>
                </c:pt>
                <c:pt idx="5">
                  <c:v>0.25</c:v>
                </c:pt>
                <c:pt idx="6">
                  <c:v>0.31</c:v>
                </c:pt>
                <c:pt idx="7">
                  <c:v>0.46</c:v>
                </c:pt>
                <c:pt idx="8">
                  <c:v>0.69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Estimated Monthly Financial Impact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Value ($)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34AB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Campaign Cost</c:v>
                  </c:pt>
                  <c:pt idx="1">
                    <c:v>Revenue Protected</c:v>
                  </c:pt>
                  <c:pt idx="2">
                    <c:v>Net Gain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15825</c:v>
                </c:pt>
                <c:pt idx="1">
                  <c:v>95040</c:v>
                </c:pt>
                <c:pt idx="2">
                  <c:v>79215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457200"/>
            <a:ext cx="1920240" cy="1920240"/>
          </a:xfrm>
          <a:prstGeom prst="ellipse">
            <a:avLst/>
          </a:prstGeom>
          <a:solidFill>
            <a:srgbClr val="E24B4A">
              <a:alpha val="20000"/>
            </a:srgbClr>
          </a:solidFill>
          <a:ln w="19050">
            <a:solidFill>
              <a:srgbClr val="E24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731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26.5%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4088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BD5E1"/>
                </a:solidFill>
              </a:rPr>
              <a:t>CHURN RATE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486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ConnectTel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029200" cy="36576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Internship Project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534AB7">
              <a:alpha val="40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XGBoost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26060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534AB7">
              <a:alpha val="40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26060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534AB7">
              <a:alpha val="40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26060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534AB7">
              <a:alpha val="40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SN PRANAV  |  May 2026  |  Telco Customer Churn Dataset — 7,043 customers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ConnectTel is losing millions in revenue every quarter due to customer churn.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1645920"/>
          </a:xfrm>
          <a:prstGeom prst="rect">
            <a:avLst/>
          </a:prstGeom>
          <a:solidFill>
            <a:srgbClr val="F0F4FF"/>
          </a:solidFill>
          <a:ln w="1905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09728" cy="16459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4B4A"/>
                </a:solidFill>
              </a:rPr>
              <a:t>5–7×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Cost to acquire vs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retain a customer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1645920"/>
          </a:xfrm>
          <a:prstGeom prst="rect">
            <a:avLst/>
          </a:prstGeom>
          <a:solidFill>
            <a:srgbClr val="F0F4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109728" cy="1645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34AB7"/>
                </a:solidFill>
              </a:rPr>
              <a:t>26.5%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Quarterly churn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rate at ConnectTel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solidFill>
            <a:srgbClr val="F0F4FF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109728" cy="1645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9E75"/>
                </a:solidFill>
              </a:rPr>
              <a:t>$120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Avg monthly 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lost per churner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4B4A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Build an ML system that </a:t>
            </a:r>
            <a:pPr indent="0" marL="0">
              <a:buNone/>
            </a:pPr>
            <a:r>
              <a:rPr lang="en-US" sz="1300" b="1" dirty="0">
                <a:solidFill>
                  <a:srgbClr val="E24B4A"/>
                </a:solidFill>
              </a:rPr>
              <a:t>proactively identifies high-risk customers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before they churn — enabling the retention team to intervene with targeted offers.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PIPELINE — 4 WEEK PLAN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148840" y="1691640"/>
            <a:ext cx="256032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1874520" cy="3931920"/>
          </a:xfrm>
          <a:prstGeom prst="rect">
            <a:avLst/>
          </a:prstGeom>
          <a:solidFill>
            <a:srgbClr val="F0F4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874520" cy="6400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WEEK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 &amp; 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691640"/>
            <a:ext cx="36576" cy="4114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Load &amp; clean 7,043 rows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350008"/>
            <a:ext cx="36576" cy="4114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5 hypothesis 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36576" cy="4114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30083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6 engineered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666744"/>
            <a:ext cx="36576" cy="4114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6667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One-hot encoding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5112" y="1691640"/>
            <a:ext cx="256032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2450592" y="868680"/>
            <a:ext cx="1874520" cy="3931920"/>
          </a:xfrm>
          <a:prstGeom prst="rect">
            <a:avLst/>
          </a:prstGeom>
          <a:solidFill>
            <a:srgbClr val="F0F4FF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868680"/>
            <a:ext cx="187452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2450592" y="868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WEEK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50592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1691640"/>
            <a:ext cx="3657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2350008"/>
            <a:ext cx="3657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3008376"/>
            <a:ext cx="3657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30083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StratifiedKFold CV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3666744"/>
            <a:ext cx="3657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36667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AUC-ROC evaluation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01384" y="1691640"/>
            <a:ext cx="256032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4626864" y="868680"/>
            <a:ext cx="1874520" cy="3931920"/>
          </a:xfrm>
          <a:prstGeom prst="rect">
            <a:avLst/>
          </a:prstGeom>
          <a:solidFill>
            <a:srgbClr val="F0F4FF"/>
          </a:solidFill>
          <a:ln w="1905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868680"/>
            <a:ext cx="1874520" cy="6400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3" name="Text 31"/>
          <p:cNvSpPr/>
          <p:nvPr/>
        </p:nvSpPr>
        <p:spPr>
          <a:xfrm>
            <a:off x="4626864" y="868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WEEK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26864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Tuning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36592" y="1691640"/>
            <a:ext cx="36576" cy="4114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XGBoost training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36592" y="2350008"/>
            <a:ext cx="36576" cy="4114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GridSearchCV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36592" y="3008376"/>
            <a:ext cx="36576" cy="4114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30083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120 hyperparameter fits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6592" y="3666744"/>
            <a:ext cx="36576" cy="4114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6667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Threshold optimisation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03136" y="868680"/>
            <a:ext cx="1874520" cy="3931920"/>
          </a:xfrm>
          <a:prstGeom prst="rect">
            <a:avLst/>
          </a:prstGeom>
          <a:solidFill>
            <a:srgbClr val="F0F4FF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03136" y="868680"/>
            <a:ext cx="1874520" cy="6400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5" name="Text 43"/>
          <p:cNvSpPr/>
          <p:nvPr/>
        </p:nvSpPr>
        <p:spPr>
          <a:xfrm>
            <a:off x="6803136" y="868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WEEK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03136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Interpretability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12864" y="1691640"/>
            <a:ext cx="36576" cy="4114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8" name="Text 46"/>
          <p:cNvSpPr/>
          <p:nvPr/>
        </p:nvSpPr>
        <p:spPr>
          <a:xfrm>
            <a:off x="7004304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Summary beeswarm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12864" y="2350008"/>
            <a:ext cx="36576" cy="4114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0" name="Text 48"/>
          <p:cNvSpPr/>
          <p:nvPr/>
        </p:nvSpPr>
        <p:spPr>
          <a:xfrm>
            <a:off x="7004304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Dependence plots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12864" y="3008376"/>
            <a:ext cx="36576" cy="4114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2" name="Text 50"/>
          <p:cNvSpPr/>
          <p:nvPr/>
        </p:nvSpPr>
        <p:spPr>
          <a:xfrm>
            <a:off x="7004304" y="30083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Waterfall explanations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12864" y="3666744"/>
            <a:ext cx="36576" cy="4114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4" name="Text 52"/>
          <p:cNvSpPr/>
          <p:nvPr/>
        </p:nvSpPr>
        <p:spPr>
          <a:xfrm>
            <a:off x="7004304" y="36667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Business report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EDA — KEY FINDINGS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22960"/>
            <a:ext cx="32004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822960"/>
            <a:ext cx="109728" cy="10972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4"/>
          <p:cNvSpPr/>
          <p:nvPr/>
        </p:nvSpPr>
        <p:spPr>
          <a:xfrm>
            <a:off x="5833872" y="868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Fiber Optic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33872" y="1097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</a:rPr>
              <a:t>42% churn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33872" y="1444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vs 19% DSL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(p &lt; 0.05)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057400"/>
            <a:ext cx="32004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057400"/>
            <a:ext cx="109728" cy="10972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9"/>
          <p:cNvSpPr/>
          <p:nvPr/>
        </p:nvSpPr>
        <p:spPr>
          <a:xfrm>
            <a:off x="5833872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Month-to-Month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33872" y="2331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4AB7"/>
                </a:solidFill>
              </a:rPr>
              <a:t>43% churn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33872" y="26791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vs 3% two-year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contracts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291840"/>
            <a:ext cx="32004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3291840"/>
            <a:ext cx="109728" cy="10972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7" name="Text 14"/>
          <p:cNvSpPr/>
          <p:nvPr/>
        </p:nvSpPr>
        <p:spPr>
          <a:xfrm>
            <a:off x="5833872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Partner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33872" y="3566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</a:rPr>
              <a:t>33% churn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833872" y="3913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vs 20%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partner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 ENGINEERING — 6 NEW FEATURES CREATED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96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TotalChargesPerTenure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TotalCharges / tenure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Captures average monthly spend — separates price-sensitive customers from low-value ones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12848"/>
            <a:ext cx="4206240" cy="36576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ServiceCount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Sum of 8 add-on services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77977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Proxy for engagement — customers with 4+ services churn at half the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02736"/>
            <a:ext cx="4206240" cy="36576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HasFamilyTies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931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Partner OR Dependents = Yes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41696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Stability signal — family customers are 40% less likely to switch providers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22960"/>
            <a:ext cx="4206240" cy="3657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896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IsNewCustomer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1152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tenure &lt;= 12 months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13898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Flags the most vulnerable window — 50%+ churn rate in first year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420624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IsHighValue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5420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MonthlyCharges &gt; 75th percentile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608" y="277977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High charges + month-to-month = highest risk combination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02736"/>
            <a:ext cx="4206240" cy="36576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3931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Month-to-month=2, One year=1, Two year=0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4608" y="41696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Ordinal encoding that preserves the natural risk order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 RESULTS — ALL THREE MODELS COMPARED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108960" cy="347472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24B4A"/>
                </a:solidFill>
              </a:rPr>
              <a:t>WINNER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52160" y="1234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XGBoost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(tuned)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852160" y="2148840"/>
            <a:ext cx="29260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21488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AUC-ROC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06640" y="21488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4B4A"/>
                </a:solidFill>
              </a:rPr>
              <a:t>0.8470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0" y="2624328"/>
            <a:ext cx="29260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26243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Recall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262432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79.7%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52160" y="3099816"/>
            <a:ext cx="29260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309981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06640" y="30998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34AB7"/>
                </a:solidFill>
              </a:rPr>
              <a:t>51.3%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852160" y="3575304"/>
            <a:ext cx="29260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35753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F1 Score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3575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62.4%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Optimal decision threshold: 0.37 (not default 0.50) — maximises revenue saved at $120 LTV vs $25 offer cost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SHAP ANALYSIS — WHY CUSTOMERS CHURN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822960"/>
            <a:ext cx="3337560" cy="1207008"/>
          </a:xfrm>
          <a:prstGeom prst="rect">
            <a:avLst/>
          </a:prstGeom>
          <a:solidFill>
            <a:srgbClr val="F0F4FF"/>
          </a:solidFill>
          <a:ln w="1905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32120" y="822960"/>
            <a:ext cx="109728" cy="120700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4"/>
          <p:cNvSpPr/>
          <p:nvPr/>
        </p:nvSpPr>
        <p:spPr>
          <a:xfrm>
            <a:off x="5687568" y="868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24B4A"/>
                </a:solidFill>
              </a:rPr>
              <a:t>#1 DRIVER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687568" y="1078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Contract Type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0" y="1078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4B4A"/>
                </a:solidFill>
              </a:rPr>
              <a:t>SHAP: 0.692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87568" y="13898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Month-to-month SHAP values are 2-3× higher than any other feature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32120" y="2148840"/>
            <a:ext cx="3337560" cy="1207008"/>
          </a:xfrm>
          <a:prstGeom prst="rect">
            <a:avLst/>
          </a:prstGeom>
          <a:solidFill>
            <a:srgbClr val="F0F4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32120" y="2148840"/>
            <a:ext cx="109728" cy="1207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3" name="Text 10"/>
          <p:cNvSpPr/>
          <p:nvPr/>
        </p:nvSpPr>
        <p:spPr>
          <a:xfrm>
            <a:off x="5687568" y="2194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34AB7"/>
                </a:solidFill>
              </a:rPr>
              <a:t>#2 DRIVER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87568" y="2404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Tenure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98080" y="24048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34AB7"/>
                </a:solidFill>
              </a:rPr>
              <a:t>SHAP: 0.461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87568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Strong protective effect — SHAP drops sharply after month 12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32120" y="3474720"/>
            <a:ext cx="3337560" cy="1207008"/>
          </a:xfrm>
          <a:prstGeom prst="rect">
            <a:avLst/>
          </a:prstGeom>
          <a:solidFill>
            <a:srgbClr val="F0F4FF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3474720"/>
            <a:ext cx="109728" cy="12070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6"/>
          <p:cNvSpPr/>
          <p:nvPr/>
        </p:nvSpPr>
        <p:spPr>
          <a:xfrm>
            <a:off x="5687568" y="3520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9E75"/>
                </a:solidFill>
              </a:rPr>
              <a:t>#3 DRIVER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87568" y="3730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Fiber Optic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98080" y="3730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9E75"/>
                </a:solidFill>
              </a:rPr>
              <a:t>SHAP: 0.310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87568" y="40416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Amplifies charge effect — Fiber users in high-charge zone are at highest risk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32688"/>
            <a:ext cx="384048" cy="384048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32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Lock-In Month-to-Month 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371600"/>
            <a:ext cx="384048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Target: Tenure &lt; 12 months + Month-to-month contract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719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</a:rPr>
              <a:t>Action: Offer 15% discount to upgrade to 1-year contract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240280"/>
            <a:ext cx="3931920" cy="347472"/>
          </a:xfrm>
          <a:prstGeom prst="rect">
            <a:avLst/>
          </a:prstGeom>
          <a:solidFill>
            <a:srgbClr val="E24B4A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240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Impact: $5,030/month protected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4160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932688"/>
            <a:ext cx="384048" cy="38404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6088" y="932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Fiber Optic Bundle Offer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18888" y="1371600"/>
            <a:ext cx="384048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Target: Fiber Optic + MonthlyCharges &gt; $65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1719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</a:rPr>
              <a:t>Action: Free OnlineSecurity + TechSupport for 12 months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18888" y="2240280"/>
            <a:ext cx="3931920" cy="347472"/>
          </a:xfrm>
          <a:prstGeom prst="rect">
            <a:avLst/>
          </a:prstGeom>
          <a:solidFill>
            <a:srgbClr val="534AB7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2240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Impact: $3,930/month protected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4160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035808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0358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Onboarding Excellence Programme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3474720"/>
            <a:ext cx="384048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Target: All customers with tenure &lt;= 12 months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</a:rPr>
              <a:t>Action: Check-ins at months 1, 3, 6, 9 + loyalty reward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4343400"/>
            <a:ext cx="3931920" cy="347472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4343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Impact: $9,432/month protected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26080"/>
            <a:ext cx="41605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18888" y="3035808"/>
            <a:ext cx="384048" cy="384048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76088" y="30358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Service Upsell Campaign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18888" y="3474720"/>
            <a:ext cx="384048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Target: ServiceCount &lt;= 2 + Month-to-month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18888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</a:rPr>
              <a:t>Action: First 3 months free on 2 additional add-ons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18888" y="4343400"/>
            <a:ext cx="3931920" cy="347472"/>
          </a:xfrm>
          <a:prstGeom prst="rect">
            <a:avLst/>
          </a:prstGeom>
          <a:solidFill>
            <a:srgbClr val="EF9F27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4343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</a:rPr>
              <a:t>Impact: Reduces churn rate by ~15%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COST-BENEFIT &amp; ROI SUMMARY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822960"/>
            <a:ext cx="33832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822960"/>
            <a:ext cx="91440" cy="65836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" name="Text 4"/>
          <p:cNvSpPr/>
          <p:nvPr/>
        </p:nvSpPr>
        <p:spPr>
          <a:xfrm>
            <a:off x="5650992" y="868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Customers flagged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50992" y="1115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633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0" y="11155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at threshold 0.37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0" y="1572768"/>
            <a:ext cx="33832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1572768"/>
            <a:ext cx="91440" cy="65836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9"/>
          <p:cNvSpPr/>
          <p:nvPr/>
        </p:nvSpPr>
        <p:spPr>
          <a:xfrm>
            <a:off x="5650992" y="1618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True churners caught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50992" y="1865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</a:rPr>
              <a:t>392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0" y="18653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 1,869 total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2322576"/>
            <a:ext cx="33832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2322576"/>
            <a:ext cx="91440" cy="65836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7" name="Text 14"/>
          <p:cNvSpPr/>
          <p:nvPr/>
        </p:nvSpPr>
        <p:spPr>
          <a:xfrm>
            <a:off x="565099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Campaign cost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650992" y="26151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</a:rPr>
              <a:t>$15,825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26151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at $25/offer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0" y="3072384"/>
            <a:ext cx="33832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0" y="3072384"/>
            <a:ext cx="91440" cy="65836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" name="Text 19"/>
          <p:cNvSpPr/>
          <p:nvPr/>
        </p:nvSpPr>
        <p:spPr>
          <a:xfrm>
            <a:off x="5650992" y="3118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Revenue protected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50992" y="3364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</a:rPr>
              <a:t>$95,040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315200" y="3364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month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0" y="3822192"/>
            <a:ext cx="33832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0" y="3822192"/>
            <a:ext cx="91440" cy="65836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7" name="Text 24"/>
          <p:cNvSpPr/>
          <p:nvPr/>
        </p:nvSpPr>
        <p:spPr>
          <a:xfrm>
            <a:off x="5650992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Estimated ROI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50992" y="4114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3,471%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315200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over 12 months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4B4A"/>
                </a:solidFill>
              </a:rPr>
              <a:t>ConnectTel Churn Prediction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029200" cy="36576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40280"/>
            <a:ext cx="18288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4B4A"/>
                </a:solidFill>
              </a:rPr>
              <a:t>0.8470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XGBoost AUC-ROC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2240280"/>
            <a:ext cx="18288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4B4A"/>
                </a:solidFill>
              </a:rPr>
              <a:t>79.7%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Churner Recall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240280"/>
            <a:ext cx="18288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4B4A"/>
                </a:solidFill>
              </a:rPr>
              <a:t>3,471%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Estimated ROI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SN PRANAV  |  Machine Learning Internship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ConnectTel Churn Prediction</dc:title>
  <dc:subject>Machine Learning Internship Project</dc:subject>
  <dc:creator>SN PRANAV</dc:creator>
  <cp:lastModifiedBy>SN PRANAV</cp:lastModifiedBy>
  <cp:revision>1</cp:revision>
  <dcterms:created xsi:type="dcterms:W3CDTF">2026-05-18T04:41:50Z</dcterms:created>
  <dcterms:modified xsi:type="dcterms:W3CDTF">2026-05-18T04:41:50Z</dcterms:modified>
</cp:coreProperties>
</file>